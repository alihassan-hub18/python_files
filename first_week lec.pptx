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57" r:id="rId5"/>
    <p:sldId id="268" r:id="rId6"/>
    <p:sldId id="273" r:id="rId7"/>
    <p:sldId id="287" r:id="rId8"/>
    <p:sldId id="288" r:id="rId9"/>
    <p:sldId id="289" r:id="rId10"/>
    <p:sldId id="291" r:id="rId11"/>
    <p:sldId id="293" r:id="rId12"/>
    <p:sldId id="292" r:id="rId13"/>
    <p:sldId id="290" r:id="rId14"/>
    <p:sldId id="294" r:id="rId15"/>
    <p:sldId id="296" r:id="rId16"/>
    <p:sldId id="295" r:id="rId17"/>
    <p:sldId id="297" r:id="rId18"/>
    <p:sldId id="298" r:id="rId19"/>
    <p:sldId id="300" r:id="rId20"/>
    <p:sldId id="304" r:id="rId21"/>
    <p:sldId id="309" r:id="rId22"/>
    <p:sldId id="308" r:id="rId23"/>
    <p:sldId id="311" r:id="rId24"/>
    <p:sldId id="312" r:id="rId25"/>
    <p:sldId id="313" r:id="rId26"/>
    <p:sldId id="314" r:id="rId27"/>
    <p:sldId id="315" r:id="rId28"/>
    <p:sldId id="271" r:id="rId2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>
      <p:cViewPr varScale="1">
        <p:scale>
          <a:sx n="67" d="100"/>
          <a:sy n="67" d="100"/>
        </p:scale>
        <p:origin x="452" y="4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eeksforgeeks.org/g-fact-25-print-single-multiple-variable-pyth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-string-split/" TargetMode="External"/><Relationship Id="rId2" Type="http://schemas.openxmlformats.org/officeDocument/2006/relationships/hyperlink" Target="https://www.geeksforgeeks.org/taking-multiple-inputs-from-user-in-pyth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&amp; Data Science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349996" y="2973313"/>
            <a:ext cx="8735325" cy="1752600"/>
          </a:xfrm>
        </p:spPr>
        <p:txBody>
          <a:bodyPr/>
          <a:lstStyle/>
          <a:p>
            <a:r>
              <a:rPr lang="en-US" dirty="0"/>
              <a:t>Instructor: Jamal Nasir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ubtitle 4"/>
          <p:cNvSpPr txBox="1">
            <a:spLocks/>
          </p:cNvSpPr>
          <p:nvPr/>
        </p:nvSpPr>
        <p:spPr>
          <a:xfrm>
            <a:off x="1413892" y="5114776"/>
            <a:ext cx="8735325" cy="17526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Artificial Intelligence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16" y="1498600"/>
            <a:ext cx="8640960" cy="50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Python?</a:t>
            </a:r>
            <a:endParaRPr lang="en-GB" b="1" u="sng" dirty="0"/>
          </a:p>
        </p:txBody>
      </p:sp>
      <p:sp>
        <p:nvSpPr>
          <p:cNvPr id="4" name="Rectangle 3"/>
          <p:cNvSpPr/>
          <p:nvPr/>
        </p:nvSpPr>
        <p:spPr>
          <a:xfrm>
            <a:off x="1053852" y="2011038"/>
            <a:ext cx="799288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is a popular high-level programming language used in various applications</a:t>
            </a:r>
          </a:p>
          <a:p>
            <a:pPr lvl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is an easy language to learn because of its simple syntax</a:t>
            </a:r>
          </a:p>
          <a:p>
            <a:pPr lvl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can be used for simple tasks such as plotting or for more complex tasks like machine learning</a:t>
            </a:r>
          </a:p>
          <a:p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57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Python?</a:t>
            </a:r>
            <a:endParaRPr lang="en-GB" b="1" u="sng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Applications-of-Python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1772816"/>
            <a:ext cx="8619945" cy="453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First Python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3852" y="2011038"/>
            <a:ext cx="799288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Here is a simple Python code, printing a string. We recommend that you edit the code and try to print your name.</a:t>
            </a:r>
          </a:p>
          <a:p>
            <a:pPr fontAlgn="base"/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# This is a comment. It will not be executed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>
                <a:solidFill>
                  <a:srgbClr val="FF0000"/>
                </a:solidFill>
              </a:rPr>
              <a:t>print("Hello, World!")</a:t>
            </a:r>
          </a:p>
          <a:p>
            <a:r>
              <a:rPr lang="en-GB" sz="2800" dirty="0"/>
              <a:t>Output: Hello, World!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6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How does this work:</a:t>
            </a:r>
            <a:endParaRPr lang="en-GB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8291" y="1614999"/>
            <a:ext cx="856895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print() is a built-in Python function that tells the computer to show something on the screen.</a:t>
            </a:r>
          </a:p>
          <a:p>
            <a:pPr fontAlgn="base"/>
            <a:r>
              <a:rPr lang="en-GB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The message "Hello, World!" is a string, which means it's just text. In Python, strings are always written inside quotes (either single ' or double ").</a:t>
            </a:r>
          </a:p>
          <a:p>
            <a:pPr fontAlgn="base"/>
            <a:r>
              <a:rPr lang="en-GB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Anything after # in a line is a comment. Python ignores comments when running the code, but they help people understand what the code is doing.</a:t>
            </a:r>
          </a:p>
          <a:p>
            <a:pPr fontAlgn="base"/>
            <a:r>
              <a:rPr lang="en-GB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Comments are helpful for explaining code, making notes or skipping lines while testing.</a:t>
            </a:r>
          </a:p>
          <a:p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860" y="450746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897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Strings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884" y="1700808"/>
            <a:ext cx="7992887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A </a:t>
            </a:r>
            <a:r>
              <a:rPr lang="en-GB" b="1" dirty="0"/>
              <a:t>string</a:t>
            </a:r>
            <a:r>
              <a:rPr lang="en-GB" dirty="0"/>
              <a:t> in Python is a </a:t>
            </a:r>
            <a:r>
              <a:rPr lang="en-GB" b="1" dirty="0"/>
              <a:t>sequence of characters</a:t>
            </a:r>
            <a:r>
              <a:rPr lang="en-GB" dirty="0"/>
              <a:t> used to store and represent text data and must be enclosed with ‘  ‘,” “.</a:t>
            </a:r>
            <a:br>
              <a:rPr lang="en-GB" dirty="0"/>
            </a:br>
            <a:r>
              <a:rPr lang="en-GB" dirty="0" err="1">
                <a:solidFill>
                  <a:srgbClr val="FF0000"/>
                </a:solidFill>
              </a:rPr>
              <a:t>first_name</a:t>
            </a:r>
            <a:r>
              <a:rPr lang="en-GB" dirty="0">
                <a:solidFill>
                  <a:srgbClr val="FF0000"/>
                </a:solidFill>
              </a:rPr>
              <a:t> = “</a:t>
            </a:r>
            <a:r>
              <a:rPr lang="en-GB" dirty="0" err="1">
                <a:solidFill>
                  <a:srgbClr val="FF0000"/>
                </a:solidFill>
              </a:rPr>
              <a:t>sam</a:t>
            </a:r>
            <a:r>
              <a:rPr lang="en-GB" dirty="0">
                <a:solidFill>
                  <a:srgbClr val="FF0000"/>
                </a:solidFill>
              </a:rPr>
              <a:t>"</a:t>
            </a:r>
          </a:p>
          <a:p>
            <a:pPr fontAlgn="base"/>
            <a:r>
              <a:rPr lang="en-GB" dirty="0" err="1">
                <a:solidFill>
                  <a:srgbClr val="FF0000"/>
                </a:solidFill>
              </a:rPr>
              <a:t>Last_name</a:t>
            </a:r>
            <a:r>
              <a:rPr lang="en-GB" dirty="0">
                <a:solidFill>
                  <a:srgbClr val="FF0000"/>
                </a:solidFill>
              </a:rPr>
              <a:t> = ‘</a:t>
            </a:r>
            <a:r>
              <a:rPr lang="en-GB" dirty="0" err="1">
                <a:solidFill>
                  <a:srgbClr val="FF0000"/>
                </a:solidFill>
              </a:rPr>
              <a:t>alex</a:t>
            </a:r>
            <a:r>
              <a:rPr lang="en-GB" dirty="0">
                <a:solidFill>
                  <a:srgbClr val="FF0000"/>
                </a:solidFill>
              </a:rPr>
              <a:t>’</a:t>
            </a:r>
          </a:p>
          <a:p>
            <a:pPr fontAlgn="base"/>
            <a:endParaRPr lang="en-GB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multiline = """This is</a:t>
            </a:r>
          </a:p>
          <a:p>
            <a:r>
              <a:rPr lang="en-GB" sz="2800" dirty="0">
                <a:solidFill>
                  <a:srgbClr val="FF0000"/>
                </a:solidFill>
              </a:rPr>
              <a:t>a multi-line</a:t>
            </a:r>
          </a:p>
          <a:p>
            <a:r>
              <a:rPr lang="en-GB" sz="2800" dirty="0">
                <a:solidFill>
                  <a:srgbClr val="FF0000"/>
                </a:solidFill>
              </a:rPr>
              <a:t>string."""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2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String Concatenation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884" y="1700808"/>
            <a:ext cx="799288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To combine two strings:</a:t>
            </a:r>
            <a:br>
              <a:rPr lang="en-GB" dirty="0"/>
            </a:br>
            <a:r>
              <a:rPr lang="en-GB" dirty="0" err="1">
                <a:solidFill>
                  <a:srgbClr val="FF0000"/>
                </a:solidFill>
              </a:rPr>
              <a:t>first_name</a:t>
            </a:r>
            <a:r>
              <a:rPr lang="en-GB" dirty="0">
                <a:solidFill>
                  <a:srgbClr val="FF0000"/>
                </a:solidFill>
              </a:rPr>
              <a:t> = “Ali"</a:t>
            </a:r>
          </a:p>
          <a:p>
            <a:pPr fontAlgn="base"/>
            <a:r>
              <a:rPr lang="en-GB" dirty="0" err="1">
                <a:solidFill>
                  <a:srgbClr val="FF0000"/>
                </a:solidFill>
              </a:rPr>
              <a:t>Last_name</a:t>
            </a:r>
            <a:r>
              <a:rPr lang="en-GB" dirty="0">
                <a:solidFill>
                  <a:srgbClr val="FF0000"/>
                </a:solidFill>
              </a:rPr>
              <a:t> = “Ahmed"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result = first + " " + second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print(result)</a:t>
            </a:r>
          </a:p>
          <a:p>
            <a:r>
              <a:rPr lang="en-GB" sz="2800" dirty="0"/>
              <a:t>Output: Ali Ahmed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24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String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884" y="1700808"/>
            <a:ext cx="7992887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br>
              <a:rPr lang="en-GB" dirty="0"/>
            </a:br>
            <a:r>
              <a:rPr lang="en-GB" dirty="0">
                <a:solidFill>
                  <a:srgbClr val="FF0000"/>
                </a:solidFill>
              </a:rPr>
              <a:t>name = “harry"</a:t>
            </a:r>
          </a:p>
          <a:p>
            <a:r>
              <a:rPr lang="en-GB" sz="2800" dirty="0">
                <a:solidFill>
                  <a:srgbClr val="FF0000"/>
                </a:solidFill>
              </a:rPr>
              <a:t>Print(</a:t>
            </a:r>
            <a:r>
              <a:rPr lang="en-GB" sz="2800" dirty="0" err="1">
                <a:solidFill>
                  <a:srgbClr val="FF0000"/>
                </a:solidFill>
              </a:rPr>
              <a:t>len</a:t>
            </a:r>
            <a:r>
              <a:rPr lang="en-GB" sz="2800" dirty="0">
                <a:solidFill>
                  <a:srgbClr val="FF0000"/>
                </a:solidFill>
              </a:rPr>
              <a:t>(name)</a:t>
            </a:r>
          </a:p>
          <a:p>
            <a:r>
              <a:rPr lang="en-GB" sz="2800" dirty="0">
                <a:solidFill>
                  <a:srgbClr val="FF0000"/>
                </a:solidFill>
              </a:rPr>
              <a:t>Print(</a:t>
            </a:r>
            <a:r>
              <a:rPr lang="en-GB" sz="2800" dirty="0" err="1">
                <a:solidFill>
                  <a:srgbClr val="FF0000"/>
                </a:solidFill>
              </a:rPr>
              <a:t>name.ends</a:t>
            </a:r>
            <a:r>
              <a:rPr lang="en-GB" sz="2800" dirty="0">
                <a:solidFill>
                  <a:srgbClr val="FF0000"/>
                </a:solidFill>
              </a:rPr>
              <a:t> with(“</a:t>
            </a:r>
            <a:r>
              <a:rPr lang="en-GB" sz="2800" dirty="0" err="1">
                <a:solidFill>
                  <a:srgbClr val="FF0000"/>
                </a:solidFill>
              </a:rPr>
              <a:t>rry</a:t>
            </a:r>
            <a:r>
              <a:rPr lang="en-GB" sz="2800" dirty="0">
                <a:solidFill>
                  <a:srgbClr val="FF0000"/>
                </a:solidFill>
              </a:rPr>
              <a:t>”)</a:t>
            </a:r>
          </a:p>
          <a:p>
            <a:r>
              <a:rPr lang="en-GB" sz="2800" dirty="0">
                <a:solidFill>
                  <a:srgbClr val="FF0000"/>
                </a:solidFill>
              </a:rPr>
              <a:t>Print(</a:t>
            </a:r>
            <a:r>
              <a:rPr lang="en-GB" sz="2800" dirty="0" err="1">
                <a:solidFill>
                  <a:srgbClr val="FF0000"/>
                </a:solidFill>
              </a:rPr>
              <a:t>name.starts</a:t>
            </a:r>
            <a:r>
              <a:rPr lang="en-GB" sz="2800" dirty="0">
                <a:solidFill>
                  <a:srgbClr val="FF0000"/>
                </a:solidFill>
              </a:rPr>
              <a:t> with(“</a:t>
            </a:r>
            <a:r>
              <a:rPr lang="en-GB" sz="2800" dirty="0" err="1">
                <a:solidFill>
                  <a:srgbClr val="FF0000"/>
                </a:solidFill>
              </a:rPr>
              <a:t>har</a:t>
            </a:r>
            <a:r>
              <a:rPr lang="en-GB" sz="2800" dirty="0">
                <a:solidFill>
                  <a:srgbClr val="FF0000"/>
                </a:solidFill>
              </a:rPr>
              <a:t>”)</a:t>
            </a:r>
          </a:p>
          <a:p>
            <a:r>
              <a:rPr lang="en-GB" sz="2800" dirty="0">
                <a:solidFill>
                  <a:srgbClr val="FF0000"/>
                </a:solidFill>
              </a:rPr>
              <a:t>Print(</a:t>
            </a:r>
            <a:r>
              <a:rPr lang="en-GB" sz="2800" dirty="0" err="1">
                <a:solidFill>
                  <a:srgbClr val="FF0000"/>
                </a:solidFill>
              </a:rPr>
              <a:t>name.capitalize</a:t>
            </a:r>
            <a:r>
              <a:rPr lang="en-GB" sz="2800" dirty="0">
                <a:solidFill>
                  <a:srgbClr val="FF0000"/>
                </a:solidFill>
              </a:rPr>
              <a:t>()) 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90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Comments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3567" y="1581959"/>
            <a:ext cx="7992887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Anything after # in a line is a comment. Python ignores comments when running the code, but they help people understand what the code is doing.</a:t>
            </a:r>
          </a:p>
          <a:p>
            <a:pPr fontAlgn="base"/>
            <a:r>
              <a:rPr lang="en-GB" dirty="0"/>
              <a:t>Comments are helpful for explaining code, making notes or skipping lines while testing.</a:t>
            </a:r>
          </a:p>
          <a:p>
            <a:pPr fontAlgn="base"/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# This is a comment. It will not be executed, it’s a single line comment. </a:t>
            </a:r>
          </a:p>
          <a:p>
            <a:pPr fontAlgn="base"/>
            <a:endParaRPr lang="en-GB" dirty="0">
              <a:solidFill>
                <a:srgbClr val="FFFF00"/>
              </a:solidFill>
            </a:endParaRP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""“</a:t>
            </a: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This is a multi-line comment.</a:t>
            </a: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It can be used to describe larger sections of code.</a:t>
            </a: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"""</a:t>
            </a:r>
            <a:br>
              <a:rPr lang="en-GB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222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Variables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3567" y="1581959"/>
            <a:ext cx="799288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In Python, variables serve as named storage locations for data values. They act as containers, holding information that can be accessed and modified throughout a program's execution.</a:t>
            </a:r>
          </a:p>
          <a:p>
            <a:pPr fontAlgn="base"/>
            <a:br>
              <a:rPr lang="en-GB" dirty="0"/>
            </a:br>
            <a:r>
              <a:rPr lang="en-GB" dirty="0">
                <a:solidFill>
                  <a:srgbClr val="FF0000"/>
                </a:solidFill>
              </a:rPr>
              <a:t>name = "Alice"  </a:t>
            </a:r>
            <a:r>
              <a:rPr lang="en-GB" dirty="0">
                <a:solidFill>
                  <a:srgbClr val="FFFF00"/>
                </a:solidFill>
              </a:rPr>
              <a:t>#string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age = 30        </a:t>
            </a:r>
            <a:r>
              <a:rPr lang="en-GB" dirty="0">
                <a:solidFill>
                  <a:srgbClr val="FFFF00"/>
                </a:solidFill>
              </a:rPr>
              <a:t># Integer variable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height = 1.65   </a:t>
            </a:r>
            <a:r>
              <a:rPr lang="en-GB" dirty="0">
                <a:solidFill>
                  <a:srgbClr val="FFFF00"/>
                </a:solidFill>
              </a:rPr>
              <a:t># Float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 err="1">
                <a:solidFill>
                  <a:srgbClr val="FF0000"/>
                </a:solidFill>
              </a:rPr>
              <a:t>is_student</a:t>
            </a:r>
            <a:r>
              <a:rPr lang="en-GB" dirty="0">
                <a:solidFill>
                  <a:srgbClr val="FF0000"/>
                </a:solidFill>
              </a:rPr>
              <a:t> = False </a:t>
            </a:r>
            <a:r>
              <a:rPr lang="en-GB" dirty="0">
                <a:solidFill>
                  <a:srgbClr val="FFFF00"/>
                </a:solidFill>
              </a:rPr>
              <a:t># Boolean variable</a:t>
            </a:r>
            <a:br>
              <a:rPr lang="en-GB" dirty="0">
                <a:solidFill>
                  <a:srgbClr val="FFFF00"/>
                </a:solidFill>
              </a:rPr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70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Variables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1884" y="1422400"/>
            <a:ext cx="831722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We can use the print() function to </a:t>
            </a:r>
            <a:r>
              <a:rPr lang="en-GB" u="sng" dirty="0">
                <a:hlinkClick r:id="rId2"/>
              </a:rPr>
              <a:t>print single and multiple variables</a:t>
            </a:r>
            <a:r>
              <a:rPr lang="en-GB" dirty="0"/>
              <a:t>. We can print multiple variables by separating them with commas.</a:t>
            </a:r>
          </a:p>
          <a:p>
            <a:pPr fontAlgn="base"/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# Single variable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s = "Bob"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print(s)</a:t>
            </a:r>
          </a:p>
          <a:p>
            <a:pPr fontAlgn="base"/>
            <a:endParaRPr lang="en-GB" dirty="0">
              <a:solidFill>
                <a:srgbClr val="FF0000"/>
              </a:solidFill>
            </a:endParaRP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# Multiple Variables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s = "Alice"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age = 25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city = "New York"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print(s, age, city)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069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Input from users 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3567" y="1581959"/>
            <a:ext cx="799288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>
                <a:solidFill>
                  <a:srgbClr val="FF0000"/>
                </a:solidFill>
              </a:rPr>
              <a:t>name = input("Enter your name: ")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print("Hello,", name, "! Welcome!")</a:t>
            </a:r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426" y="6401227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12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/>
          <a:lstStyle/>
          <a:p>
            <a:pPr fontAlgn="base"/>
            <a:r>
              <a:rPr lang="en-GB" b="1" dirty="0"/>
              <a:t>Multiple Inputs from users 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3852" y="1135038"/>
            <a:ext cx="10117429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dirty="0"/>
              <a:t>We are </a:t>
            </a:r>
            <a:r>
              <a:rPr lang="en-GB" u="sng" dirty="0">
                <a:hlinkClick r:id="rId2"/>
              </a:rPr>
              <a:t>taking multiple input </a:t>
            </a:r>
            <a:r>
              <a:rPr lang="en-GB" dirty="0"/>
              <a:t>from the user in a single line, splitting the values entered by the user into separate variables for each value using the </a:t>
            </a:r>
            <a:r>
              <a:rPr lang="en-GB" u="sng" dirty="0">
                <a:hlinkClick r:id="rId3"/>
              </a:rPr>
              <a:t>split() method</a:t>
            </a:r>
            <a:r>
              <a:rPr lang="en-GB" dirty="0"/>
              <a:t>. Then, it prints the values with corresponding labels, either two or three, based on the number of inputs provided by the user.</a:t>
            </a:r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# taking two inputs at a time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x, y = input("Enter two values: ").split()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print("Number of boys: ", x)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print("Number of girls: ", y)</a:t>
            </a:r>
          </a:p>
          <a:p>
            <a:pPr fontAlgn="base"/>
            <a:r>
              <a:rPr lang="en-GB" dirty="0"/>
              <a:t> </a:t>
            </a:r>
          </a:p>
          <a:p>
            <a:pPr fontAlgn="base"/>
            <a:r>
              <a:rPr lang="en-GB" dirty="0">
                <a:solidFill>
                  <a:srgbClr val="FFFF00"/>
                </a:solidFill>
              </a:rPr>
              <a:t># taking three inputs at a time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x, y, z = input("Enter three values: ").split()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print("Total number of students: ", x)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print("Number of boys is : ", y)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print("Number of girls is : ", z)</a:t>
            </a:r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68" y="4005064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820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/>
          <a:lstStyle/>
          <a:p>
            <a:pPr fontAlgn="base"/>
            <a:r>
              <a:rPr lang="en-GB" b="1" dirty="0"/>
              <a:t>Conditions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9296" y="1140470"/>
            <a:ext cx="10117429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Conditions in Python are </a:t>
            </a:r>
            <a:r>
              <a:rPr lang="en-US" altLang="en-US" sz="1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boolean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 expressions that evaluate to either 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True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 or 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False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, and they are used to control the flow of execution in a program. They are primarily used in 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if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, </a:t>
            </a:r>
            <a:r>
              <a:rPr lang="en-US" altLang="en-US" sz="1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elif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, and 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  <a:cs typeface="Courier New" panose="02070309020205020404" pitchFamily="49" charset="0"/>
              </a:rPr>
              <a:t>else</a:t>
            </a:r>
            <a:r>
              <a:rPr lang="en-US" alt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 statements to make decisions based on whether a condition is met. </a:t>
            </a:r>
          </a:p>
          <a:p>
            <a:br>
              <a:rPr lang="en-GB" dirty="0"/>
            </a:b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Types of Conditions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Equals: (==): Checks if two values are equal.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Not equals: (!=): Checks if two values are not equal.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Greater than: (&gt;): Checks if one value is greater than another.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Less than: (&lt;): Checks if one value is less than another.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Greater than or equal to: (&gt;=): Checks if one value is greater than or equal to another. </a:t>
            </a:r>
          </a:p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Less than or equal to: (&lt;=): Checks if one value is less than or equal to another.</a:t>
            </a:r>
          </a:p>
          <a:p>
            <a:pPr fontAlgn="base"/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47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/>
          <a:lstStyle/>
          <a:p>
            <a:pPr fontAlgn="base"/>
            <a:r>
              <a:rPr lang="en-GB" b="1" dirty="0"/>
              <a:t>Conditional Statements: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9296" y="1140470"/>
            <a:ext cx="10117429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dirty="0"/>
              <a:t>Conditional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if statement</a:t>
            </a:r>
            <a:r>
              <a:rPr lang="en-GB" dirty="0"/>
              <a:t>: Executes a block of code only if the condition is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 err="1"/>
              <a:t>elif</a:t>
            </a:r>
            <a:r>
              <a:rPr lang="en-GB" b="1" dirty="0"/>
              <a:t> statement</a:t>
            </a:r>
            <a:r>
              <a:rPr lang="en-GB" dirty="0"/>
              <a:t>: Checks multiple conditions in sequence and executes the corresponding block of code if the condition is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else statement</a:t>
            </a:r>
            <a:r>
              <a:rPr lang="en-GB" dirty="0"/>
              <a:t>: Executes a block of code if none of the preceding conditions are true</a:t>
            </a:r>
          </a:p>
          <a:p>
            <a:pPr fontAlgn="base"/>
            <a:r>
              <a:rPr lang="en-GB" dirty="0">
                <a:solidFill>
                  <a:srgbClr val="FF0000"/>
                </a:solidFill>
              </a:rPr>
              <a:t>x = 10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y = 5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if x &gt; y:    print("x is greater than y")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 err="1">
                <a:solidFill>
                  <a:srgbClr val="FF0000"/>
                </a:solidFill>
              </a:rPr>
              <a:t>elif</a:t>
            </a:r>
            <a:r>
              <a:rPr lang="en-GB" dirty="0">
                <a:solidFill>
                  <a:srgbClr val="FF0000"/>
                </a:solidFill>
              </a:rPr>
              <a:t> x &lt; y:    print("x is less than y")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else:    print("x is equal to y")</a:t>
            </a:r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29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/>
          <a:lstStyle/>
          <a:p>
            <a:pPr fontAlgn="base"/>
            <a:r>
              <a:rPr lang="en-GB" b="1" dirty="0"/>
              <a:t>Conditional Statements: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60" y="1496977"/>
            <a:ext cx="525658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FF0000"/>
                </a:solidFill>
              </a:rPr>
              <a:t># Prompting the user for input</a:t>
            </a:r>
          </a:p>
          <a:p>
            <a:pPr fontAlgn="ctr"/>
            <a:r>
              <a:rPr lang="en-GB" sz="2000" dirty="0" err="1">
                <a:solidFill>
                  <a:srgbClr val="FF0000"/>
                </a:solidFill>
              </a:rPr>
              <a:t>age_input</a:t>
            </a:r>
            <a:r>
              <a:rPr lang="en-GB" sz="2000" dirty="0">
                <a:solidFill>
                  <a:srgbClr val="FF0000"/>
                </a:solidFill>
              </a:rPr>
              <a:t> = input("Enter your age: ")</a:t>
            </a:r>
          </a:p>
          <a:p>
            <a:pPr fontAlgn="ctr"/>
            <a:endParaRPr lang="en-GB" sz="2000" dirty="0">
              <a:solidFill>
                <a:srgbClr val="FF0000"/>
              </a:solidFill>
            </a:endParaRP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# Converting the input to an integer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age = </a:t>
            </a:r>
            <a:r>
              <a:rPr lang="en-GB" sz="2000" dirty="0" err="1">
                <a:solidFill>
                  <a:srgbClr val="FF0000"/>
                </a:solidFill>
              </a:rPr>
              <a:t>int</a:t>
            </a:r>
            <a:r>
              <a:rPr lang="en-GB" sz="2000" dirty="0">
                <a:solidFill>
                  <a:srgbClr val="FF0000"/>
                </a:solidFill>
              </a:rPr>
              <a:t>(</a:t>
            </a:r>
            <a:r>
              <a:rPr lang="en-GB" sz="2000" dirty="0" err="1">
                <a:solidFill>
                  <a:srgbClr val="FF0000"/>
                </a:solidFill>
              </a:rPr>
              <a:t>age_input</a:t>
            </a:r>
            <a:r>
              <a:rPr lang="en-GB" sz="2000" dirty="0">
                <a:solidFill>
                  <a:srgbClr val="FF0000"/>
                </a:solidFill>
              </a:rPr>
              <a:t>)</a:t>
            </a:r>
          </a:p>
          <a:p>
            <a:pPr fontAlgn="ctr"/>
            <a:endParaRPr lang="en-GB" sz="2000" dirty="0">
              <a:solidFill>
                <a:srgbClr val="FF0000"/>
              </a:solidFill>
            </a:endParaRP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# Checking conditions based on user input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if age &lt; 0: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    print("Please enter a valid age.")</a:t>
            </a:r>
          </a:p>
          <a:p>
            <a:pPr fontAlgn="ctr"/>
            <a:r>
              <a:rPr lang="en-GB" sz="2000" dirty="0" err="1">
                <a:solidFill>
                  <a:srgbClr val="FF0000"/>
                </a:solidFill>
              </a:rPr>
              <a:t>elif</a:t>
            </a:r>
            <a:r>
              <a:rPr lang="en-GB" sz="2000" dirty="0">
                <a:solidFill>
                  <a:srgbClr val="FF0000"/>
                </a:solidFill>
              </a:rPr>
              <a:t> age &lt; 18: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    print("You are a minor.")</a:t>
            </a:r>
          </a:p>
          <a:p>
            <a:pPr fontAlgn="ctr"/>
            <a:r>
              <a:rPr lang="en-GB" sz="2000" dirty="0" err="1">
                <a:solidFill>
                  <a:srgbClr val="FF0000"/>
                </a:solidFill>
              </a:rPr>
              <a:t>elif</a:t>
            </a:r>
            <a:r>
              <a:rPr lang="en-GB" sz="2000" dirty="0">
                <a:solidFill>
                  <a:srgbClr val="FF0000"/>
                </a:solidFill>
              </a:rPr>
              <a:t> age &gt;= 18 and age &lt; 65: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    print("You are an adult.")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else:</a:t>
            </a:r>
          </a:p>
          <a:p>
            <a:pPr fontAlgn="ctr"/>
            <a:r>
              <a:rPr lang="en-GB" sz="2000" dirty="0">
                <a:solidFill>
                  <a:srgbClr val="FF0000"/>
                </a:solidFill>
              </a:rPr>
              <a:t>    print("You are a senior citizen.")</a:t>
            </a:r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5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/>
          <a:lstStyle/>
          <a:p>
            <a:pPr fontAlgn="base"/>
            <a:r>
              <a:rPr lang="en-GB" b="1" dirty="0"/>
              <a:t>Functions in Python :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3932" y="1496977"/>
            <a:ext cx="64087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FFFF00"/>
                </a:solidFill>
              </a:rPr>
              <a:t>Built in Functions 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00B0F0"/>
                </a:solidFill>
              </a:rPr>
              <a:t>print("Hello")</a:t>
            </a:r>
          </a:p>
          <a:p>
            <a:pPr fontAlgn="ctr"/>
            <a:r>
              <a:rPr lang="en-GB" sz="2000" dirty="0" err="1">
                <a:solidFill>
                  <a:srgbClr val="00B0F0"/>
                </a:solidFill>
              </a:rPr>
              <a:t>len</a:t>
            </a:r>
            <a:r>
              <a:rPr lang="en-GB" sz="2000" dirty="0">
                <a:solidFill>
                  <a:srgbClr val="00B0F0"/>
                </a:solidFill>
              </a:rPr>
              <a:t>([1, 2, 3])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sum([1, 2, 3])</a:t>
            </a:r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00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1924" y="1496977"/>
            <a:ext cx="648072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greet():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print("Hello!")</a:t>
            </a:r>
          </a:p>
          <a:p>
            <a:pPr fontAlgn="ctr"/>
            <a:endParaRPr lang="en-GB" sz="2000" dirty="0">
              <a:solidFill>
                <a:srgbClr val="FF0000"/>
              </a:solidFill>
            </a:endParaRPr>
          </a:p>
          <a:p>
            <a:pPr fontAlgn="ctr"/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92D050"/>
                </a:solidFill>
              </a:rPr>
              <a:t>Positional Parameters</a:t>
            </a:r>
            <a:br>
              <a:rPr lang="en-GB" sz="2000" dirty="0">
                <a:solidFill>
                  <a:srgbClr val="92D05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greet(name):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</a:t>
            </a:r>
            <a:r>
              <a:rPr lang="en-GB" sz="2000" dirty="0" err="1">
                <a:solidFill>
                  <a:srgbClr val="00B0F0"/>
                </a:solidFill>
              </a:rPr>
              <a:t>f"Hello</a:t>
            </a:r>
            <a:r>
              <a:rPr lang="en-GB" sz="2000" dirty="0">
                <a:solidFill>
                  <a:srgbClr val="00B0F0"/>
                </a:solidFill>
              </a:rPr>
              <a:t>, {name}!")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greet("Alice")</a:t>
            </a:r>
          </a:p>
          <a:p>
            <a:pPr fontAlgn="ctr"/>
            <a:br>
              <a:rPr lang="en-GB" dirty="0"/>
            </a:br>
            <a:endParaRPr lang="en-GB" sz="2800" dirty="0"/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892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1924" y="1496977"/>
            <a:ext cx="648072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92D050"/>
                </a:solidFill>
              </a:rPr>
              <a:t>Default Parameters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greet(name="Guest"):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</a:t>
            </a:r>
            <a:r>
              <a:rPr lang="en-GB" sz="2000" dirty="0" err="1">
                <a:solidFill>
                  <a:srgbClr val="00B0F0"/>
                </a:solidFill>
              </a:rPr>
              <a:t>f"Hello</a:t>
            </a:r>
            <a:r>
              <a:rPr lang="en-GB" sz="2000" dirty="0">
                <a:solidFill>
                  <a:srgbClr val="00B0F0"/>
                </a:solidFill>
              </a:rPr>
              <a:t>, {name}!")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greet()         # Hello, Guest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greet("Ali")    # Hello, Ali</a:t>
            </a:r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33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7" y="274637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1924" y="1496977"/>
            <a:ext cx="64807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92D050"/>
                </a:solidFill>
              </a:rPr>
              <a:t>Keyword Arguments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student(name, age):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print(f"{name} is {age} years old.")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student(age=20, name="Ali")</a:t>
            </a:r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14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38" y="239728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1924" y="1496977"/>
            <a:ext cx="64807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92D050"/>
                </a:solidFill>
              </a:rPr>
              <a:t>Variable length </a:t>
            </a:r>
            <a:r>
              <a:rPr lang="en-GB" sz="2000" dirty="0" err="1">
                <a:solidFill>
                  <a:srgbClr val="92D050"/>
                </a:solidFill>
              </a:rPr>
              <a:t>Args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add(*numbers):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print(sum(numbers))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add(1, 2, 3, 4)   # 10</a:t>
            </a:r>
          </a:p>
          <a:p>
            <a:pPr fontAlgn="ctr"/>
            <a:endParaRPr lang="en-GB" sz="2000" dirty="0">
              <a:solidFill>
                <a:srgbClr val="00B0F0"/>
              </a:solidFill>
            </a:endParaRPr>
          </a:p>
          <a:p>
            <a:pPr fontAlgn="ctr"/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</a:t>
            </a:r>
            <a:r>
              <a:rPr lang="en-GB" sz="2000" dirty="0" err="1">
                <a:solidFill>
                  <a:srgbClr val="00B0F0"/>
                </a:solidFill>
              </a:rPr>
              <a:t>show_details</a:t>
            </a:r>
            <a:r>
              <a:rPr lang="en-GB" sz="2000" dirty="0">
                <a:solidFill>
                  <a:srgbClr val="00B0F0"/>
                </a:solidFill>
              </a:rPr>
              <a:t>(**info):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print(info)</a:t>
            </a:r>
          </a:p>
          <a:p>
            <a:pPr fontAlgn="ctr"/>
            <a:r>
              <a:rPr lang="en-GB" sz="2000" dirty="0" err="1">
                <a:solidFill>
                  <a:srgbClr val="00B0F0"/>
                </a:solidFill>
              </a:rPr>
              <a:t>show_details</a:t>
            </a:r>
            <a:r>
              <a:rPr lang="en-GB" sz="2000" dirty="0">
                <a:solidFill>
                  <a:srgbClr val="00B0F0"/>
                </a:solidFill>
              </a:rPr>
              <a:t>(name="Ali", age=20)</a:t>
            </a: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endParaRPr lang="en-GB" sz="2000" dirty="0">
              <a:solidFill>
                <a:srgbClr val="00B0F0"/>
              </a:solidFill>
            </a:endParaRPr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69876" y="4146848"/>
            <a:ext cx="9048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 Unicode MS"/>
              </a:rPr>
              <a:t>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collects extra arguments into a tuple,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kwargs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a dictionary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5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38" y="239728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5860" y="1496977"/>
            <a:ext cx="705678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92D050"/>
                </a:solidFill>
              </a:rPr>
              <a:t>Return Function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square(x):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return x * x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print(square(5))  # 25</a:t>
            </a:r>
          </a:p>
          <a:p>
            <a:pPr fontAlgn="ctr"/>
            <a:endParaRPr lang="en-GB" sz="2000" dirty="0">
              <a:solidFill>
                <a:srgbClr val="00B0F0"/>
              </a:solidFill>
            </a:endParaRPr>
          </a:p>
          <a:p>
            <a:pPr fontAlgn="ctr"/>
            <a:r>
              <a:rPr lang="en-GB" sz="2000" dirty="0">
                <a:solidFill>
                  <a:srgbClr val="92D050"/>
                </a:solidFill>
              </a:rPr>
              <a:t>#Returning multiple values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en-GB" sz="2000" dirty="0" err="1">
                <a:solidFill>
                  <a:srgbClr val="00B0F0"/>
                </a:solidFill>
              </a:rPr>
              <a:t>def</a:t>
            </a:r>
            <a:r>
              <a:rPr lang="en-GB" sz="2000" dirty="0">
                <a:solidFill>
                  <a:srgbClr val="00B0F0"/>
                </a:solidFill>
              </a:rPr>
              <a:t> </a:t>
            </a:r>
            <a:r>
              <a:rPr lang="en-GB" sz="2000" dirty="0" err="1">
                <a:solidFill>
                  <a:srgbClr val="00B0F0"/>
                </a:solidFill>
              </a:rPr>
              <a:t>calc</a:t>
            </a:r>
            <a:r>
              <a:rPr lang="en-GB" sz="2000" dirty="0">
                <a:solidFill>
                  <a:srgbClr val="00B0F0"/>
                </a:solidFill>
              </a:rPr>
              <a:t>(a, b):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    return a + b, a - b</a:t>
            </a:r>
          </a:p>
          <a:p>
            <a:pPr fontAlgn="ctr"/>
            <a:endParaRPr lang="en-GB" sz="2000" dirty="0">
              <a:solidFill>
                <a:srgbClr val="00B0F0"/>
              </a:solidFill>
            </a:endParaRP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add, sub = </a:t>
            </a:r>
            <a:r>
              <a:rPr lang="en-GB" sz="2000" dirty="0" err="1">
                <a:solidFill>
                  <a:srgbClr val="00B0F0"/>
                </a:solidFill>
              </a:rPr>
              <a:t>calc</a:t>
            </a:r>
            <a:r>
              <a:rPr lang="en-GB" sz="2000" dirty="0">
                <a:solidFill>
                  <a:srgbClr val="00B0F0"/>
                </a:solidFill>
              </a:rPr>
              <a:t>(5, 3)</a:t>
            </a:r>
          </a:p>
          <a:p>
            <a:pPr fontAlgn="ctr"/>
            <a:r>
              <a:rPr lang="en-GB" sz="2000" dirty="0">
                <a:solidFill>
                  <a:srgbClr val="00B0F0"/>
                </a:solidFill>
              </a:rPr>
              <a:t>print(add, sub)  # 8 2</a:t>
            </a:r>
          </a:p>
          <a:p>
            <a:pPr fontAlgn="ctr"/>
            <a:endParaRPr lang="en-GB" sz="2000" dirty="0">
              <a:solidFill>
                <a:srgbClr val="00B0F0"/>
              </a:solidFill>
            </a:endParaRPr>
          </a:p>
          <a:p>
            <a:pPr fontAlgn="ctr"/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endParaRPr lang="en-GB" sz="2000" dirty="0">
              <a:solidFill>
                <a:srgbClr val="00B0F0"/>
              </a:solidFill>
            </a:endParaRPr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34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38" y="239728"/>
            <a:ext cx="10669548" cy="865833"/>
          </a:xfrm>
        </p:spPr>
        <p:txBody>
          <a:bodyPr>
            <a:normAutofit/>
          </a:bodyPr>
          <a:lstStyle/>
          <a:p>
            <a:pPr fontAlgn="base"/>
            <a:r>
              <a:rPr lang="en-GB" b="1" dirty="0"/>
              <a:t>Functions in Python: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5860" y="1496977"/>
            <a:ext cx="70567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GB" sz="2000" dirty="0">
                <a:solidFill>
                  <a:srgbClr val="92D050"/>
                </a:solidFill>
              </a:rPr>
              <a:t>Lambda Function(anonymous one-line function)</a:t>
            </a:r>
            <a:br>
              <a:rPr lang="en-GB" sz="2000" dirty="0">
                <a:solidFill>
                  <a:srgbClr val="00B0F0"/>
                </a:solidFill>
              </a:rPr>
            </a:br>
            <a:r>
              <a:rPr lang="it-IT" sz="2000" dirty="0">
                <a:solidFill>
                  <a:srgbClr val="00B0F0"/>
                </a:solidFill>
              </a:rPr>
              <a:t>square = lambda x: x * x</a:t>
            </a:r>
          </a:p>
          <a:p>
            <a:pPr fontAlgn="ctr"/>
            <a:r>
              <a:rPr lang="it-IT" sz="2000" dirty="0">
                <a:solidFill>
                  <a:srgbClr val="00B0F0"/>
                </a:solidFill>
              </a:rPr>
              <a:t>print(square(4))  # 16</a:t>
            </a:r>
          </a:p>
          <a:p>
            <a:pPr fontAlgn="ctr"/>
            <a:endParaRPr lang="en-GB" sz="2000" dirty="0">
              <a:solidFill>
                <a:srgbClr val="00B0F0"/>
              </a:solidFill>
            </a:endParaRPr>
          </a:p>
          <a:p>
            <a:pPr fontAlgn="ctr"/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br>
              <a:rPr lang="en-GB" sz="2000" dirty="0">
                <a:solidFill>
                  <a:srgbClr val="00B0F0"/>
                </a:solidFill>
              </a:rPr>
            </a:br>
            <a:endParaRPr lang="en-GB" sz="2000" dirty="0">
              <a:solidFill>
                <a:srgbClr val="00B0F0"/>
              </a:solidFill>
            </a:endParaRPr>
          </a:p>
        </p:txBody>
      </p:sp>
      <p:sp>
        <p:nvSpPr>
          <p:cNvPr id="5" name="object 27"/>
          <p:cNvSpPr txBox="1"/>
          <p:nvPr/>
        </p:nvSpPr>
        <p:spPr>
          <a:xfrm>
            <a:off x="2679992" y="6636846"/>
            <a:ext cx="6495334" cy="197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768" y="5128631"/>
            <a:ext cx="1661057" cy="1606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478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39,828 Blue Thank You Royalty-Free Images, Stock Photos &amp; Pictures | 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052" y="1772816"/>
            <a:ext cx="6624736" cy="389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4873beb7-5857-4685-be1f-d57550cc96cc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531</TotalTime>
  <Words>1419</Words>
  <Application>Microsoft Office PowerPoint</Application>
  <PresentationFormat>Custom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 Unicode MS</vt:lpstr>
      <vt:lpstr>Arial</vt:lpstr>
      <vt:lpstr>Arial Rounded MT Bold</vt:lpstr>
      <vt:lpstr>Calibri</vt:lpstr>
      <vt:lpstr>Open Sans</vt:lpstr>
      <vt:lpstr>Times New Roman</vt:lpstr>
      <vt:lpstr>Tech 16x9</vt:lpstr>
      <vt:lpstr>Ai &amp; Data Science</vt:lpstr>
      <vt:lpstr>Artificial Intelligence</vt:lpstr>
      <vt:lpstr>What is Python?</vt:lpstr>
      <vt:lpstr>Why Python?</vt:lpstr>
      <vt:lpstr>First Python Program</vt:lpstr>
      <vt:lpstr>How does this work:</vt:lpstr>
      <vt:lpstr>Strings in python</vt:lpstr>
      <vt:lpstr>String Concatenation</vt:lpstr>
      <vt:lpstr>String functions</vt:lpstr>
      <vt:lpstr>Comments in python:</vt:lpstr>
      <vt:lpstr>Variables in python</vt:lpstr>
      <vt:lpstr>Variables in python</vt:lpstr>
      <vt:lpstr>Input from users  in Python</vt:lpstr>
      <vt:lpstr>Multiple Inputs from users  in Python</vt:lpstr>
      <vt:lpstr>Conditions in Python</vt:lpstr>
      <vt:lpstr>Conditional Statements:</vt:lpstr>
      <vt:lpstr>Conditional Statements:</vt:lpstr>
      <vt:lpstr>Functions in Python :</vt:lpstr>
      <vt:lpstr>Functions in Python:</vt:lpstr>
      <vt:lpstr>Functions in Python:</vt:lpstr>
      <vt:lpstr>Functions in Python:</vt:lpstr>
      <vt:lpstr>Functions in Python:</vt:lpstr>
      <vt:lpstr>Functions in Python:</vt:lpstr>
      <vt:lpstr>Functions in Python: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FC</dc:creator>
  <cp:lastModifiedBy>jamal nasir</cp:lastModifiedBy>
  <cp:revision>35</cp:revision>
  <dcterms:created xsi:type="dcterms:W3CDTF">2024-10-19T08:34:13Z</dcterms:created>
  <dcterms:modified xsi:type="dcterms:W3CDTF">2026-07-14T13:12:44Z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